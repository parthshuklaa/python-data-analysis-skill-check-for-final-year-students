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bold ns1:id="rIdFont20"/>
      <ns0:regular ns1:id="rIdFont21"/>
    </ns0:embeddedFont>
    <ns0:embeddedFont>
      <ns0:font typeface="Space Grotesk"/>
      <ns0:bold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642c39bc-4ce6-4bbc-b8ea-b994090a0492.fntdata" /><ns0:Relationship Id="rIdFont21" Type="http://schemas.openxmlformats.org/officeDocument/2006/relationships/font" Target="fonts/46402e1f-d6c8-41e8-a15f-ffdf8ecc59de.fntdata" /><ns0:Relationship Id="rIdFont22" Type="http://schemas.openxmlformats.org/officeDocument/2006/relationships/font" Target="fonts/070e650f-9ca9-4615-af2b-c126cb1dd90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413349"/>
            <a:ext cx="533400" cy="381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335113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078D4"/>
                </a:solidFill>
                <a:latin typeface="Space Grotesk"/>
              </a:rPr>
              <a:t>PEARSON VUE &amp; CERTIPORT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668488"/>
            <a:ext cx="11001375" cy="5914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1" sz="4050" i="0" u="none">
                <a:solidFill>
                  <a:srgbClr val="FFFFFF"/>
                </a:solidFill>
                <a:latin typeface="Space Grotesk"/>
              </a:rPr>
              <a:t>Microsoft Certification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450431"/>
            <a:ext cx="73342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Strategic MOS and MCF roadmap for four-year degree programs • ₹2,450 per badge • 15–18 hours hands-on 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62100" y="4341911"/>
            <a:ext cx="28932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BD5E1"/>
                </a:solidFill>
                <a:latin typeface="Plus Jakarta Sans"/>
              </a:rPr>
              <a:t>Online &amp; Offline Blended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628900"/>
            <a:ext cx="3429000" cy="2667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1500" y="2738437"/>
            <a:ext cx="3429000" cy="2447925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38437"/>
            <a:ext cx="3429000" cy="2447925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028950"/>
            <a:ext cx="1905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825" y="3138487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138487"/>
            <a:ext cx="381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Plus Jakarta Sans"/>
              </a:rPr>
              <a:t>COMMERCIAL &amp; EXECUTION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Program Delivery &amp; Economics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514725"/>
            <a:ext cx="350043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Space Grotesk"/>
              </a:rPr>
              <a:t>₹2,450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171950"/>
            <a:ext cx="36754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78D4"/>
                </a:solidFill>
                <a:latin typeface="Plus Jakarta Sans"/>
              </a:rPr>
              <a:t>Affordable Exam Fee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4505325"/>
            <a:ext cx="28956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Subsidized global Certiport voucher.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5825" y="3624262"/>
            <a:ext cx="350043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Space Grotesk"/>
              </a:rPr>
              <a:t>15–18 Hrs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5825" y="4281487"/>
            <a:ext cx="36754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78D4"/>
                </a:solidFill>
                <a:latin typeface="Plus Jakarta Sans"/>
              </a:rPr>
              <a:t>Intensive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5825" y="4614862"/>
            <a:ext cx="3500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Targeted exam syllabus mastery.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3624262"/>
            <a:ext cx="350043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Space Grotesk"/>
              </a:rPr>
              <a:t>Hybrid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4281487"/>
            <a:ext cx="36754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78D4"/>
                </a:solidFill>
                <a:latin typeface="Plus Jakarta Sans"/>
              </a:rPr>
              <a:t>Delivery Modes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614862"/>
            <a:ext cx="3500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Online interactive or offline labs.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714625"/>
            <a:ext cx="5238750" cy="2457450"/>
          </a:xfrm>
          <a:prstGeom prst="roundRect">
            <a:avLst>
              <a:gd name="adj" fmla="val 62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714625"/>
            <a:ext cx="5238750" cy="2457450"/>
          </a:xfrm>
          <a:prstGeom prst="roundRect">
            <a:avLst>
              <a:gd name="adj" fmla="val 62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3067050"/>
            <a:ext cx="41910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875" y="3067050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337" y="3181350"/>
            <a:ext cx="14287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0362" y="3181350"/>
            <a:ext cx="23812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Plus Jakarta Sans"/>
              </a:rPr>
              <a:t>CURRICULUM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Two Specialized Microsoft Pillars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638550"/>
            <a:ext cx="5667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78D4"/>
                </a:solidFill>
                <a:latin typeface="Plus Jakarta Sans"/>
              </a:rPr>
              <a:t>Productivity &amp; Analytical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3971925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 Word &amp; Word Expert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4286250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 Excel &amp; Excel Expert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4600575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 PowerPoint &amp;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9875" y="3638550"/>
            <a:ext cx="5572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Cloud, Data &amp; Security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9875" y="3971925"/>
            <a:ext cx="55721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 Azure Fundamentals (AZ-900)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9875" y="4286250"/>
            <a:ext cx="55721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 Azure AI &amp; Data (AI-900 / DP-900)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9875" y="4600575"/>
            <a:ext cx="55721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 Security &amp; Power Platform (SC-900 / PL-900)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0675" y="3143250"/>
            <a:ext cx="312539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MOS (Office Specialist)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2325" y="3143250"/>
            <a:ext cx="27753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MCF (Fundamentals)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852737"/>
            <a:ext cx="3454449" cy="2181225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852737"/>
            <a:ext cx="3454449" cy="2181225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852737"/>
            <a:ext cx="3454449" cy="2181225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Plus Jakarta Sans"/>
              </a:rPr>
              <a:t>TIERED PLANNING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Certification Priority Tiers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167062"/>
            <a:ext cx="3532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Plus Jakarta Sans"/>
              </a:rPr>
              <a:t>TIER 1 • ESSENTIAL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414712"/>
            <a:ext cx="370886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Foundational Literacy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833812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 MOS Excel Associate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4167187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 MOS Word Associate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500562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 Azure Fundamentals (AZ-900)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3174" y="3167062"/>
            <a:ext cx="3532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Plus Jakarta Sans"/>
              </a:rPr>
              <a:t>TIER 2 • APPLIED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3174" y="3414712"/>
            <a:ext cx="370886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Data &amp; Security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3174" y="3833812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 Azure Data (DP-900)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3174" y="4167187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 Security &amp; Identity (SC-900)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3174" y="4500562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 Power Platform (PL-900)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224" y="3167062"/>
            <a:ext cx="3532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Plus Jakarta Sans"/>
              </a:rPr>
              <a:t>TIER 3 • SPECIALIZED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224" y="3414712"/>
            <a:ext cx="370886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AI &amp; Expert Mastery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224" y="3833812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 Azure AI (AI-900 / AI-901)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224" y="4167187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 MOS Excel Expert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224" y="4500562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 Microsoft 365 (MS-900)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819400"/>
            <a:ext cx="5257800" cy="2247900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19400"/>
            <a:ext cx="5257800" cy="2247900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8225" y="3171825"/>
            <a:ext cx="647700" cy="247650"/>
          </a:xfrm>
          <a:prstGeom prst="roundRect">
            <a:avLst>
              <a:gd name="adj" fmla="val 2307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00825" y="3171825"/>
            <a:ext cx="666750" cy="247650"/>
          </a:xfrm>
          <a:prstGeom prst="roundRect">
            <a:avLst>
              <a:gd name="adj" fmla="val 2307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Plus Jakarta Sans"/>
              </a:rPr>
              <a:t>ACADEMIC BLUEPRINT • YEAR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Business Productivity &amp;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475" y="3209925"/>
            <a:ext cx="552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Plus Jakarta Sans"/>
              </a:rPr>
              <a:t>SEM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225" y="3176587"/>
            <a:ext cx="242530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Executive Reporting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6075" y="3209925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Plus Jakarta Sans"/>
              </a:rPr>
              <a:t>SEM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1875" y="3176587"/>
            <a:ext cx="326290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Quantitative Spreadsheets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3609975"/>
            <a:ext cx="59757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MOS Word Associate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867150"/>
            <a:ext cx="5691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Standardized enterprise documentation formatting.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4238625"/>
            <a:ext cx="59757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MOS PowerPoint Associate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4495800"/>
            <a:ext cx="5691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Professional pitch deck creation.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0825" y="3609975"/>
            <a:ext cx="55911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MOS Excel Associate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0825" y="3867150"/>
            <a:ext cx="55911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Formula logic and basic analysis.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0825" y="4238625"/>
            <a:ext cx="55911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Training &amp; Voucher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825" y="4495800"/>
            <a:ext cx="55911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15–18 hours • ₹2,450 per exam.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590800"/>
            <a:ext cx="5181600" cy="123825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4057650"/>
            <a:ext cx="5181600" cy="123825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133600"/>
            <a:ext cx="518160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133600"/>
            <a:ext cx="518160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Plus Jakarta Sans"/>
              </a:rPr>
              <a:t>ACADEMIC BLUEPRINT • YEAR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Cloud &amp; Relational Data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2828925"/>
            <a:ext cx="5881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Plus Jakarta Sans"/>
              </a:rPr>
              <a:t>SEMESTER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057525"/>
            <a:ext cx="61757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Azure Fundamentals (AZ-900)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371850"/>
            <a:ext cx="5881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Global cloud architecture and SLAs.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295775"/>
            <a:ext cx="5881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Plus Jakarta Sans"/>
              </a:rPr>
              <a:t>SEMESTER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524375"/>
            <a:ext cx="61757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Azure Data Fundamentals (DP-900)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838700"/>
            <a:ext cx="5881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Relational and non-relational storage.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24600" y="2590800"/>
            <a:ext cx="5181600" cy="123825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4057650"/>
            <a:ext cx="5181600" cy="123825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33600"/>
            <a:ext cx="518160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33600"/>
            <a:ext cx="518160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Plus Jakarta Sans"/>
              </a:rPr>
              <a:t>ACADEMIC BLUEPRINT • YEAR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Security, Compliance &amp; Power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2828925"/>
            <a:ext cx="56292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Plus Jakarta Sans"/>
              </a:rPr>
              <a:t>SEMESTER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057525"/>
            <a:ext cx="56292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Security &amp; Identity (SC-900)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371850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Entra ID zero-trust policies.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4295775"/>
            <a:ext cx="56292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Plus Jakarta Sans"/>
              </a:rPr>
              <a:t>SEMESTER 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4524375"/>
            <a:ext cx="56292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Power Platform (PL-900) &amp; Excel Expert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4838700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Automated workflows and DAX cubes.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590800"/>
            <a:ext cx="5181600" cy="123825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4057650"/>
            <a:ext cx="5181600" cy="123825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133600"/>
            <a:ext cx="518160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133600"/>
            <a:ext cx="518160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Plus Jakarta Sans"/>
              </a:rPr>
              <a:t>ACADEMIC BLUEPRINT • YEAR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Cognitive AI &amp; Modern Workplace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2828925"/>
            <a:ext cx="5881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Plus Jakarta Sans"/>
              </a:rPr>
              <a:t>SEMESTER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057525"/>
            <a:ext cx="61757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Azure AI Fundamentals (AI-900)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371850"/>
            <a:ext cx="5881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Computer vision and prompt systems.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295775"/>
            <a:ext cx="5881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Plus Jakarta Sans"/>
              </a:rPr>
              <a:t>SEMESTER 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524375"/>
            <a:ext cx="61757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Microsoft 365 (MS-900) &amp; 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838700"/>
            <a:ext cx="5881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Enterprise collaboration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024187"/>
            <a:ext cx="3454449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024187"/>
            <a:ext cx="3454449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133725"/>
            <a:ext cx="3454449" cy="1619250"/>
          </a:xfrm>
          <a:prstGeom prst="roundRect">
            <a:avLst>
              <a:gd name="adj" fmla="val 70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376612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74" y="3376612"/>
            <a:ext cx="1714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224" y="3486150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Plus Jakarta Sans"/>
              </a:rPr>
              <a:t>INDUSTRY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Azure Cloud Infrastructure (AZ-900)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776662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Cloud Migration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110037"/>
            <a:ext cx="29210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Lift-and-shift legacy virtual servers.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3174" y="3776662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FinOps 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3174" y="4110037"/>
            <a:ext cx="29210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Cost management policy optimization.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886200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High Availability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224" y="4219575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Geo-redundant uptime resiliency.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024187"/>
            <a:ext cx="3454449" cy="1838325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024187"/>
            <a:ext cx="3454449" cy="1838325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024187"/>
            <a:ext cx="3454449" cy="1838325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376612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74" y="3376612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224" y="3376612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Plus Jakarta Sans"/>
              </a:rPr>
              <a:t>INDUSTRY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Data Intelligence &amp;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776662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Cosmos &amp; SQL Warehouses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110037"/>
            <a:ext cx="29210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Distributed analytical telemetry stores.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3174" y="3776662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MOS Excel Modeling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3174" y="4110037"/>
            <a:ext cx="29210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Complex financial scenario projections.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776662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Power BI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224" y="4110037"/>
            <a:ext cx="29210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Automated executive dashboard reporting.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024187"/>
            <a:ext cx="3454449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024187"/>
            <a:ext cx="3454449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024187"/>
            <a:ext cx="3454449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376612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74" y="3376612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224" y="3376612"/>
            <a:ext cx="25717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Plus Jakarta Sans"/>
              </a:rPr>
              <a:t>INDUSTRY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Zero-Trust Security &amp; Workflow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776662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Entra ID Zero-Trust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110037"/>
            <a:ext cx="29210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Conditional identity access controls.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3174" y="3776662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Power Automate Bots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3174" y="4110037"/>
            <a:ext cx="29210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Repetitive task business automation.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776662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Azure AI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224" y="4110037"/>
            <a:ext cx="29210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Custom language model assistants.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29300" y="4705350"/>
            <a:ext cx="533400" cy="381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19625" y="2114550"/>
            <a:ext cx="2952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078D4"/>
                </a:solidFill>
                <a:latin typeface="Plus Jakarta Sans"/>
              </a:rPr>
              <a:t>ACADEMIC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0359" y="2438400"/>
            <a:ext cx="10251281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b="1" sz="3750" i="0" u="none">
                <a:solidFill>
                  <a:srgbClr val="FFFFFF"/>
                </a:solidFill>
                <a:latin typeface="Space Grotesk"/>
              </a:rPr>
              <a:t>Empower Students with Microsoft Credentials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771900"/>
            <a:ext cx="80962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Seamless 15–18 hour modules at ₹2,450 per certification. Connect classroom learning directly to industry demand.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847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704975"/>
            <a:ext cx="11049000" cy="847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5431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5431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38225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85950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95575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Plus Jakarta Sans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000125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https://cdn-dynmedia-1.microsoft.com/is/image/microsoftcorp/vge7kpxd-386128-what-is-cloud-hero?resMode=sharp2&amp;op_usm=1.5,0.65,15,0&amp;wid=3134&amp;hei=2417&amp;qlt=100&amp;fit=constrain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352550"/>
            <a:ext cx="2631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azure.microsoft.com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84785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https://photos.peopleimages.com/picture/202304/2690648-business-people-stock-market-dashboard-on-screen-and-coach-for-trading-finance-presentation-and-graphs.-data-analytics-investment-information-and-coaching-in-team-meeting-with-fintech-and-crypto-fit_400_400.jpg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200275"/>
            <a:ext cx="2559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peopleimages.com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733675"/>
            <a:ext cx="9894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https://images.stockcake.com/public/1/d/7/1d783e1d-02ca-4131-9e9c-d8daef3c3b4b_large/neural-network-glow-stockcake.jpg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933700"/>
            <a:ext cx="2178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stockcake.com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