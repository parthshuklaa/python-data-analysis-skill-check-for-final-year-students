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Space Grotesk"/>
      <ns0:bold ns1:id="rIdFont20"/>
    </ns0:embeddedFont>
    <ns0:embeddedFont>
      <ns0:font typeface="IBM Plex Sans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e0c6eeef-7d40-463d-9bd1-c1ceb63a30f3.fntdata" /><ns0:Relationship Id="rIdFont21" Type="http://schemas.openxmlformats.org/officeDocument/2006/relationships/font" Target="fonts/4b91e6b6-9413-4280-a5ba-43bd80435d2d.fntdata" /><ns0:Relationship Id="rIdFont22" Type="http://schemas.openxmlformats.org/officeDocument/2006/relationships/font" Target="fonts/1d3c85b0-c594-44cd-8973-a293d2184a8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71838"/>
            <a:ext cx="5334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47912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62FE"/>
                </a:solidFill>
                <a:latin typeface="Space Grotesk"/>
              </a:rPr>
              <a:t>ACADEMIC &amp; CAREER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00337"/>
            <a:ext cx="1062632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IBM Certification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42258"/>
            <a:ext cx="6572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BM Plex Sans"/>
              </a:rPr>
              <a:t>A structured 4-year progression matrix for high-impact software, cloud, data, and AI careers.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48375" y="3019425"/>
            <a:ext cx="5457825" cy="1885950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371850"/>
            <a:ext cx="3810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7670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762" y="3476625"/>
            <a:ext cx="2190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4181475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STRATEGIC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Industry-Aligned Skill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52762"/>
            <a:ext cx="5941218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0F62FE"/>
                </a:solidFill>
                <a:latin typeface="Space Grotesk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81462"/>
            <a:ext cx="59412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BM Plex Sans"/>
              </a:rPr>
              <a:t>Semesters of Practical Badges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3887"/>
            <a:ext cx="4848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Gradual transition from algorithmic logic to enterprise cloud and GenAI.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3371850"/>
            <a:ext cx="44630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Sans"/>
              </a:rPr>
              <a:t>Foundation to Specialization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4200" y="3629025"/>
            <a:ext cx="4250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Core programming precedes cloud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0" y="4076700"/>
            <a:ext cx="401300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Sans"/>
              </a:rPr>
              <a:t>Enterprise 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200" y="4333875"/>
            <a:ext cx="3821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Globally recognized IBM digital badges.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47975"/>
            <a:ext cx="3454449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47975"/>
            <a:ext cx="3454449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847975"/>
            <a:ext cx="3454449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HIERARCHY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Certification Priority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162300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TIER 1: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409950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BM Plex Sans"/>
              </a:rPr>
              <a:t>Essential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838575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C/C++ Software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171950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Python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505325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SQL 101 &amp; Relational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162300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TIER 2: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3409950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BM Plex Sans"/>
              </a:rPr>
              <a:t>Systems &amp; Deployments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174" y="3838575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IBM Cloud Fundamentals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3174" y="4171950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Node.js &amp; REST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3174" y="4505325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Cybersecurity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162300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TIER 3: 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3409950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BM Plex Sans"/>
              </a:rPr>
              <a:t>AI &amp; Cloud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224" y="3838575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Generative AI Essentials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224" y="4171950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Docker &amp; Kubernetes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224" y="4505325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BM Plex Sans"/>
              </a:rPr>
              <a:t>• Deep Learning with TensorFlow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14637"/>
            <a:ext cx="5257800" cy="2257425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14637"/>
            <a:ext cx="5257800" cy="2257425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8225" y="317182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00825" y="317182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ACADEMIC BLUEPRINT • 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Core Logic &amp; Programming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3209925"/>
            <a:ext cx="552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SEM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225" y="3167062"/>
            <a:ext cx="283785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Computational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75" y="3209925"/>
            <a:ext cx="552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SEM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2825" y="3167062"/>
            <a:ext cx="206275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Data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614737"/>
            <a:ext cx="59757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Sans"/>
              </a:rPr>
              <a:t>C / C++ Software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871912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Memory management mastery.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243387"/>
            <a:ext cx="59757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Sans"/>
              </a:rPr>
              <a:t>HTML5 &amp; JavaScript Basics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500562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Interactive browser frontend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614737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Sans"/>
              </a:rPr>
              <a:t>Python 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871912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Syntax fluency and scripting.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4243387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Sans"/>
              </a:rPr>
              <a:t>SQL 101 &amp; RDBMS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4500562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Relational schema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571750"/>
            <a:ext cx="518160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057650"/>
            <a:ext cx="518160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33600"/>
            <a:ext cx="51816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33600"/>
            <a:ext cx="51816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ACADEMIC BLUEPRINT • YEAR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Full-Stack &amp; Cloud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809875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SEMESTER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038475"/>
            <a:ext cx="61757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Java, Node.js &amp; 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7185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Scalable backend microservices.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95775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SEMESTER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524375"/>
            <a:ext cx="61757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IBM Cloud &amp; Agile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85775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Enterprise sprint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571750"/>
            <a:ext cx="5181600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4057650"/>
            <a:ext cx="5181600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3600"/>
            <a:ext cx="51816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33600"/>
            <a:ext cx="51816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ACADEMIC BLUEPRINT • YEAR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DevOps, Data &amp;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809875"/>
            <a:ext cx="5629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SEMESTER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038475"/>
            <a:ext cx="56292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Data Science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37185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Proactive threat prevention.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295775"/>
            <a:ext cx="5629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SEMESTER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524375"/>
            <a:ext cx="56292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Kubernetes, Docker &amp; 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85775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Automated container orchestration.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571750"/>
            <a:ext cx="518160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057650"/>
            <a:ext cx="518160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33600"/>
            <a:ext cx="51816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33600"/>
            <a:ext cx="51816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ACADEMIC BLUEPRINT • YEAR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Enterprise AI &amp; Big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809875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SEMESTER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038475"/>
            <a:ext cx="61757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Deep Learning &amp; Hadoop 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7185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Massive distributed stream 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95775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SEMESTER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524375"/>
            <a:ext cx="61757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Generative AI Essentials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85775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Production-grade foundation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05137"/>
            <a:ext cx="3454449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05137"/>
            <a:ext cx="3454449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05137"/>
            <a:ext cx="3454449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357562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35756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357562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INDUSTRY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Data Engineering &amp;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776662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ETL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2908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Automated high-throughput data extraction.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776662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Visual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12908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Real-time operational dashboard analytics.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76662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Spark 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2908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Distributed low-latency computation clusters.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14675"/>
            <a:ext cx="3454449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05137"/>
            <a:ext cx="3454449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05137"/>
            <a:ext cx="3454449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467100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35756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357562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INDUSTRY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AI &amp; Deep Learning Tracks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86200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Neural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238625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Automated visual defect inspection.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776662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GenAI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12908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Task-oriented enterprise Copilot integrations.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76662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2908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Predictive inventory optimization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05137"/>
            <a:ext cx="3454449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05137"/>
            <a:ext cx="3454449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05137"/>
            <a:ext cx="3454449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357562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357562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357562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INDUSTRY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Cloud Architecture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776662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Zero-Trust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2908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Role-based credential authorization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776662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K8s Clusters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12908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Resilient zero-downtime microservice clusters.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76662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BM Plex Sans"/>
              </a:rPr>
              <a:t>CI/CD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2908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"/>
              </a:rPr>
              <a:t>Continuous integration testing workflows.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2FE"/>
                </a:solidFill>
                <a:latin typeface="IBM Plex Sans"/>
              </a:rPr>
              <a:t>MEASURABLE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Career Readiness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3138487"/>
            <a:ext cx="3619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62FE"/>
                </a:solidFill>
                <a:latin typeface="Space Grotesk"/>
              </a:rPr>
              <a:t>3.2x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4014787"/>
            <a:ext cx="3619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BM Plex Sans"/>
              </a:rPr>
              <a:t>Shortlist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4348162"/>
            <a:ext cx="3619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BM Plex Sans"/>
              </a:rPr>
              <a:t>Accelerated technical screening approvals.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0" y="3138487"/>
            <a:ext cx="3619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62FE"/>
                </a:solidFill>
                <a:latin typeface="Space Grotesk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0" y="4014787"/>
            <a:ext cx="3619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BM Plex Sans"/>
              </a:rPr>
              <a:t>Verified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0" y="4348162"/>
            <a:ext cx="3619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BM Plex Sans"/>
              </a:rPr>
              <a:t>Cryptographically verifiable digital badges.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0050" y="3248025"/>
            <a:ext cx="3619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62FE"/>
                </a:solidFill>
                <a:latin typeface="Space Grotes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0050" y="4124325"/>
            <a:ext cx="3619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BM Plex Sans"/>
              </a:rPr>
              <a:t>Specialized Tracks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0050" y="4457700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BM Plex Sans"/>
              </a:rPr>
              <a:t>Cloud, AI, DevOps, and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29300" y="4728120"/>
            <a:ext cx="5334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8953" y="2091779"/>
            <a:ext cx="2274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62FE"/>
                </a:solidFill>
                <a:latin typeface="IBM Plex Sans"/>
              </a:rPr>
              <a:t>ROADMAP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415629"/>
            <a:ext cx="10001250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Launch Your IBM Certification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94670"/>
            <a:ext cx="7620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BM Plex Sans"/>
              </a:rPr>
              <a:t>Align your semester curriculum with industry badges for maximum technical competency.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76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47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38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38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09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09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1917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070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222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08776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BM Plex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57275"/>
            <a:ext cx="58697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BM Plex Sans"/>
              </a:rPr>
              <a:t>https://images.presentationgo.com/2025/04/software-developer-coding-laptop.jpg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66825"/>
            <a:ext cx="2905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BM Plex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BM Plex Sans"/>
              </a:rPr>
              <a:t>www.presentationgo.com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28800"/>
            <a:ext cx="9274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BM Plex Sans"/>
              </a:rPr>
              <a:t>https://www.databank.com/wp-content/uploads/2026/08/What-Is-a-Neocloud-AI-First-Cloud-Infrastructure-Explained.jpg?w=724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38350"/>
            <a:ext cx="2405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BM Plex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BM Plex Sans"/>
              </a:rPr>
              <a:t>www.databank.com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00325"/>
            <a:ext cx="5191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BM Plex Sans"/>
              </a:rPr>
              <a:t>https://www.ejable.com/wp-content/uploads/2023/11/AI-DS-ML-2.webp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09875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BM Plex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BM Plex Sans"/>
              </a:rPr>
              <a:t>www.ejable.com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